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Urbanist-bold.fntdata"/><Relationship Id="rId10" Type="http://schemas.openxmlformats.org/officeDocument/2006/relationships/slide" Target="slides/slide5.xml"/><Relationship Id="rId21" Type="http://schemas.openxmlformats.org/officeDocument/2006/relationships/font" Target="fonts/Urbanist-regular.fntdata"/><Relationship Id="rId13" Type="http://schemas.openxmlformats.org/officeDocument/2006/relationships/slide" Target="slides/slide8.xml"/><Relationship Id="rId24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9650f3302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99650f3302_9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3008588f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a3008588f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9650f3302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99650f3302_1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4.png"/><Relationship Id="rId13" Type="http://schemas.openxmlformats.org/officeDocument/2006/relationships/image" Target="../media/image17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5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1850" y="498200"/>
            <a:ext cx="11868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4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</a:t>
            </a:r>
            <a:endParaRPr b="1" sz="4000">
              <a:solidFill>
                <a:srgbClr val="00B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AYNIYH (All You Need Is Your Hand): A C++ Based Hand Gesture Recognition System For Computer Control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4625" y="5635775"/>
            <a:ext cx="1113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Proposal &amp; Implementation Workflow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1725" y="3061475"/>
            <a:ext cx="2252534" cy="246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06675" y="3752075"/>
            <a:ext cx="42903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Rittik Gan Chaudhuri (23103123)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Manas Raj (23103085)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Vansh Rai (23103159)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Mentor: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Rahul Aggarwal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190750" y="1188975"/>
            <a:ext cx="819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CONTEXT:</a:t>
            </a: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 Gesture Recognition (HGR) is a major goal for Human-Computer Interaction (HCI). The vast majority of academic and hobbyist prototypes are built in Python due to its ease of use for AI training.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2518538"/>
            <a:ext cx="819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GAP:</a:t>
            </a: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reliance on an interpreted language creates a critical "Latency Gap."For HCI to feel 'real-time,' latency must be under ~50ms. Python-based systems, with their interpreter overhead, often exceed 80-120ms.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190750" y="3734100"/>
            <a:ext cx="819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CONSEQUENCE:</a:t>
            </a: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gap breaks user immersion and makes the system feel 'sluggish' and 'unusable' as a professional alternative to a mouse. The current prototype-focused approach is unsuitable for production-grade, real-time applications.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190750" y="5112100"/>
            <a:ext cx="819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OBJECTIVE:</a:t>
            </a:r>
            <a:r>
              <a:rPr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project's goal is to solve the Latency Gap by designing, building, and benchmarking a system that moves from a Python prototype to a high-performance C++ deployment, enabling truly instantaneous interaction.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1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2190750" y="2209800"/>
            <a:ext cx="819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Tethers: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are bound to the mouse and keyboard, which limits accessibility, hygiene for public terminals, and immersive interaction.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190750" y="3028950"/>
            <a:ext cx="819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"Lag" Problem: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Existing gesture control solutions (mostly Python) are excellent prototypes but suffer from high latency.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190750" y="3848100"/>
            <a:ext cx="819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Broken Immersion: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Human-Computer Interaction (HCI), a lag of over 50-80ms is noticeable and breaks the user's sense of direct control.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190750" y="4667250"/>
            <a:ext cx="819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Need: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need a solution that is not just functional, but instantaneous, with performance on par with a physical device.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Problem: The "Latency Gap"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</a:t>
            </a: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16275" y="1117950"/>
            <a:ext cx="11696100" cy="5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Status Quo (Python Prototyping):</a:t>
            </a:r>
            <a:r>
              <a:rPr lang="en-US" sz="2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current, common approach for Hand Gesture Recognition (HGR) 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prototypes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heavily relies on Python. It leverages the </a:t>
            </a:r>
            <a:r>
              <a:rPr b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framework for its robust landmark detection and </a:t>
            </a:r>
            <a:r>
              <a:rPr b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Keras/TensorFlow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model training.</a:t>
            </a:r>
            <a:endParaRPr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0F0F0"/>
              </a:buClr>
              <a:buSzPts val="2000"/>
              <a:buChar char="●"/>
            </a:pP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(Ref: </a:t>
            </a:r>
            <a:r>
              <a:rPr b="1"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Paudyal, P., et al., 2023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b="1"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Shrinivas, S. G., et al., 2022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Python's Documented Strength (Rapid Iteration):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Python's primary, documented strength is in </a:t>
            </a:r>
            <a:r>
              <a:rPr b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prototyping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interactive scientific computing. Its ecosystem (NumPy, Keras, etc.) makes it the undisputed standard for 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iterating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complex AI models.</a:t>
            </a:r>
            <a:endParaRPr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0F0F0"/>
              </a:buClr>
              <a:buSzPts val="2000"/>
              <a:buChar char="●"/>
            </a:pP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(Ref: </a:t>
            </a:r>
            <a:r>
              <a:rPr b="1"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Perez, F. &amp; Granger, B. E., 2007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b="1"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Oliphant, T. E., 2007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Flaw (The "Latency Gap"):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reliance on Python for 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creates a critical </a:t>
            </a:r>
            <a:r>
              <a:rPr b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"Latency Gap."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Python's interpreted nature and the Global Interpreter Lock (GIL) introduce significant overhead. Direct, peer-reviewed benchmarks show C++ implementations of the 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exact same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OpenCV tasks performing between </a:t>
            </a:r>
            <a:r>
              <a:rPr b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5.25x and 15x faster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their Python-wrapper equivalents.</a:t>
            </a:r>
            <a:endParaRPr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0F0F0"/>
              </a:buClr>
              <a:buSzPts val="2000"/>
              <a:buChar char="●"/>
            </a:pP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(Ref: </a:t>
            </a:r>
            <a:r>
              <a:rPr b="1"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 P. R, A. S., et al., 2022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b="1"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R. S, S. V., 2020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47600" y="1525050"/>
            <a:ext cx="11696100" cy="5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SOTA Goal (Efficiency):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State-of-the-art (SOTA) research in Human-Computer Interaction (HCI) is defined not just by accuracy, but by </a:t>
            </a:r>
            <a:r>
              <a:rPr b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latency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computational efficiency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 seamless, real-time experience requires minimizing "computational time" to be truly interactive.</a:t>
            </a:r>
            <a:endParaRPr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0F0F0"/>
              </a:buClr>
              <a:buSzPts val="2000"/>
              <a:buChar char="●"/>
            </a:pP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(Ref: </a:t>
            </a:r>
            <a:r>
              <a:rPr b="1"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Rautaray, S. S. &amp; Agrawal, A., 2015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(Our Project's Justification):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Python-only approach is sufficient for 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prototyping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but fails to meet SOTA performance goals for a </a:t>
            </a:r>
            <a:r>
              <a:rPr i="1"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</a:t>
            </a: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system. Therefore, our project's hybrid workflow—training in Python, deploying in C++—directly addresses this documented "Latency Gap" and aligns our work with industry-standard best practices.</a:t>
            </a:r>
            <a:endParaRPr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0F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571500" y="571500"/>
            <a:ext cx="1140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Solution: </a:t>
            </a:r>
            <a:r>
              <a:rPr lang="en-US" sz="3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AYNIYH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571500" y="2057400"/>
            <a:ext cx="1148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hybrid, high-performance C++ application that gets the best of both worlds: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914400" y="30289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952500" y="3028950"/>
            <a:ext cx="10793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"Lab" (Python):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Python only for what it's good at: rapidly training a flexible 1D Convolutional Neural Network (CNN) model.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914400" y="40767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952500" y="4076700"/>
            <a:ext cx="10464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"Factory" (C++):</a:t>
            </a:r>
            <a:r>
              <a:rPr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the trained model (as an `.onnx` file) in a lightweight, native C++ application for maximum speed and minimal latency.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04900"/>
            <a:ext cx="2066925" cy="565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9425" y="1104900"/>
            <a:ext cx="1895475" cy="571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95900" y="1104900"/>
            <a:ext cx="1854250" cy="565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31150" y="1104900"/>
            <a:ext cx="1854250" cy="565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66400" y="1104900"/>
            <a:ext cx="1854250" cy="56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829865" y="2114550"/>
            <a:ext cx="155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(The Lab)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866800" y="3538175"/>
            <a:ext cx="1476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Keras/TensorFlow to design and train our 1D CNN gesture classification model.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3282076" y="2114550"/>
            <a:ext cx="137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ONNX (The Blueprint)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3314650" y="3538175"/>
            <a:ext cx="13050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 the trained model to ONNX, a format that bridges the gap between Python and C++.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5559582" y="2114550"/>
            <a:ext cx="132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 (The Factory)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5591225" y="3538175"/>
            <a:ext cx="1263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core language for the final, high-speed application that the user will run.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7794832" y="2114550"/>
            <a:ext cx="1326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 (The Engine)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7826475" y="3460875"/>
            <a:ext cx="12636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C++ for two things: capturing the webcam feed and running the ONNX model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10030081" y="2114550"/>
            <a:ext cx="1326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Robot-CPP (The Hands)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10061725" y="3460875"/>
            <a:ext cx="1263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pre-built C++ library for cross-platform OS control (mouse, keyboard).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152" name="Google Shape;15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04937" y="14192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38562" y="14192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94350" y="14192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29600" y="14192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407699" y="14192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571500" y="2667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Tech Stack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571500" y="2133600"/>
            <a:ext cx="1151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phase is done once, in our "lab."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809625" y="2609850"/>
            <a:ext cx="1115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MediaPipe to capture 3D "World Landmarks" (a 63-point vector, 21x3).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809625" y="3276600"/>
            <a:ext cx="1115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100s of samples for each gesture (`IDLE`, `POINT`, `CLICK`, `FIST`).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-905125" y="3954375"/>
            <a:ext cx="13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809625" y="3943350"/>
            <a:ext cx="1084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a 1D CNN to classify these vector sequences.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-1572275" y="4555350"/>
            <a:ext cx="142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4.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809625" y="4324350"/>
            <a:ext cx="1115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 the final, optimized model to `gesture_cnn.onnx`.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Workflow: Phase 1 - The "Brain" (Python)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1809750" y="2333625"/>
            <a:ext cx="857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will build the C++ application using a clean, modular design.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2190750" y="2905125"/>
            <a:ext cx="819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`HandTracker.cpp` (The Eyes):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Runs the MediaPipe TFLite models to get the 63-point landmark vector from the webcam.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2190750" y="3724275"/>
            <a:ext cx="819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`GestureCNN.cpp` (The Brain):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Loads `gesture_cnn.onnx` and has one job: predict a gesture ID from the landmark vector.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2190750" y="4543425"/>
            <a:ext cx="819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`Robot-CPP` (The Hands):</a:t>
            </a:r>
            <a:r>
              <a:rPr i="0" lang="en-US" sz="185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pre-built library for all OS-specific commands.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2190750" y="5048250"/>
            <a:ext cx="819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`main.cpp` (The Conductor):</a:t>
            </a: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Connects all modules in a clean, high-speed loop.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181" name="Google Shape;1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73550"/>
            <a:ext cx="346275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654225"/>
            <a:ext cx="346275" cy="34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21913" y="4473375"/>
            <a:ext cx="432844" cy="34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21925" y="5013292"/>
            <a:ext cx="432825" cy="38473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Workflow: Phase 2 - The "Body" (C++)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571500" y="571500"/>
            <a:ext cx="1176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C++ Advantage: `robot-cpp`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571500" y="2057400"/>
            <a:ext cx="1147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the `robot-cpp` library, we avoid writing thousands of lines of platform-specific code (`windows.h`, `X11`).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3009900"/>
            <a:ext cx="1162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keeps our `main.cpp` logic 100% clean and portable. We simply call its high-level, readable functions: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666750" y="3939475"/>
            <a:ext cx="113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Robot::Mouse::Move(x, y);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666750" y="4225225"/>
            <a:ext cx="1117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Robot::Mouse::Click();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666750" y="4510975"/>
            <a:ext cx="113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Robot::Keyboard::Press(Key::Space);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/>
          <p:nvPr/>
        </p:nvSpPr>
        <p:spPr>
          <a:xfrm>
            <a:off x="571500" y="382905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507968" y="4086225"/>
            <a:ext cx="266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1: Setup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571500" y="4552950"/>
            <a:ext cx="25413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up C++ Environment (vcpkg, OpenCV, robot-cpp). Train V1 Gesture Model in Python.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3343938" y="1470188"/>
            <a:ext cx="266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2: Core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3407394" y="1963325"/>
            <a:ext cx="25413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&amp; Test `GestureCNN.cpp` (AI Inference) and integrate `robot-cpp`.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6179808" y="4086225"/>
            <a:ext cx="266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3: Integration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6243339" y="4552950"/>
            <a:ext cx="254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`HandTracker.cpp` (Vision) &amp; integrate all modules in `main.cpp`.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9015778" y="1839500"/>
            <a:ext cx="266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4: Report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9079234" y="2320800"/>
            <a:ext cx="254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Testing, bug-fixing, and performance benchmarking (C++ vs. Python).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1746870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4582790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7418709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10254629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Project Timeline (4 Weeks)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/>
          <p:nvPr/>
        </p:nvSpPr>
        <p:spPr>
          <a:xfrm>
            <a:off x="571500" y="2995612"/>
            <a:ext cx="52863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&lt;20ms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571500" y="4424362"/>
            <a:ext cx="52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End-to-End Latency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6321150" y="2367550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Deliverables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6534150" y="30289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6572250" y="2825475"/>
            <a:ext cx="5048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functional C++ application for controlling the mouse, clicks, and keyboard via gestures.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6534150" y="374332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6572250" y="3966213"/>
            <a:ext cx="5048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scalable system where new gestures can be added</a:t>
            </a:r>
            <a:r>
              <a:rPr lang="en-US" sz="1800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 by retraining the `.onnx` model.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6534150" y="44577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6572250" y="5310450"/>
            <a:ext cx="5048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final report benchmarking our C++ latency vs. a baseline Python equivalent.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9350"/>
            <a:ext cx="52863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19350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962025" y="2809875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1: C++ Environment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962025" y="3362325"/>
            <a:ext cx="4505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Risk:</a:t>
            </a: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Linking C++ libraries (OpenCV, TFLite) is notoriously complex and time-consuming.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962025" y="4124325"/>
            <a:ext cx="4505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Mitigation:</a:t>
            </a: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`vcpkg` as a package manager from Day 1. This will be the entire focus of Week 1.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6724650" y="2809875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2: Model Accuracy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6724650" y="3362325"/>
            <a:ext cx="4505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Risk:</a:t>
            </a: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1D CNN may confuse similar gestures, like "Point" (Move) and "Pinch" (Click).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6724600" y="4470525"/>
            <a:ext cx="4505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Mitigation:</a:t>
            </a:r>
            <a:r>
              <a:rPr i="0" lang="en-US" sz="18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Collect a large, diverse training dataset. The model is only as good as its data.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&amp; Mitigation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/>
        </p:nvSpPr>
        <p:spPr>
          <a:xfrm>
            <a:off x="619050" y="900088"/>
            <a:ext cx="1095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 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 P. R, A. S., et al. (2022). "Performance Analysis of Python and C++ in OpenCV." </a:t>
            </a:r>
            <a:r>
              <a:rPr i="1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for Research in Applied Science &amp; Engineering Technology (IJRASET)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10(6).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666750" y="1767050"/>
            <a:ext cx="109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 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Oliphant, T. E. (2007). "Python for Scientific Computing." </a:t>
            </a:r>
            <a:r>
              <a:rPr i="1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in Science &amp; Engineering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9(3).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666750" y="2141400"/>
            <a:ext cx="1095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 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Paudyal, P., et al. (2023). "Real-time Hand Gesture Recognition using MediaPipe and TensorFlow." </a:t>
            </a:r>
            <a:r>
              <a:rPr i="1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2023 5th International Conference on ICT &amp; Operations (ICT-OP)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6"/>
          <p:cNvSpPr txBox="1"/>
          <p:nvPr/>
        </p:nvSpPr>
        <p:spPr>
          <a:xfrm>
            <a:off x="666750" y="3031325"/>
            <a:ext cx="10953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 </a:t>
            </a:r>
            <a:r>
              <a:rPr i="0" lang="en-US" sz="18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Perez, F., &amp; Granger, B. E. (2007). "IPython: A System for Interactive Scientific Computing." </a:t>
            </a:r>
            <a:r>
              <a:rPr i="1" lang="en-US" sz="18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in Science &amp; Engineering</a:t>
            </a:r>
            <a:r>
              <a:rPr i="0" lang="en-US" sz="18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9(3).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666750" y="3841150"/>
            <a:ext cx="1095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 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Rautaray, S. S., &amp; Agrawal, A. (2015). "Vision based hand gesture recognition for human computer interaction: a survey." </a:t>
            </a:r>
            <a:r>
              <a:rPr i="1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Review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43(1).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666750" y="4804775"/>
            <a:ext cx="1095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 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R. S, S. V. (2020). "A Comparative Study of Python and C++ Performance in OpenCV." </a:t>
            </a:r>
            <a:r>
              <a:rPr i="1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Research in Engineering, Science and Management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3(6).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666750" y="5774575"/>
            <a:ext cx="1095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 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Shrinivas, S. G., et al. (2022). "A Real-Time Hand Gesture Recognition with MediaPipe." </a:t>
            </a:r>
            <a:r>
              <a:rPr i="1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2022 2nd International Conference on Advance Computing and Innovative Technologies in Engineering (ICACITE)</a:t>
            </a:r>
            <a:r>
              <a:rPr i="0" lang="en-US" sz="2000" u="none" cap="none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619050" y="3053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/>
        </p:nvSpPr>
        <p:spPr>
          <a:xfrm>
            <a:off x="295275" y="2605087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